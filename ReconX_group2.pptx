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7-10.svg" ContentType="image/svg+xml"/>
  <Override PartName="/ppt/media/image-7-12.svg" ContentType="image/svg+xml"/>
  <Override PartName="/ppt/media/image-7-14.svg" ContentType="image/svg+xml"/>
  <Override PartName="/ppt/media/image-7-16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Manrope Light"/>
      <p:regular r:id="rId201314"/>
    </p:embeddedFont>
    <p:embeddedFont>
      <p:font typeface="Manrope"/>
      <p:regular r:id="rId201315"/>
    </p:embeddedFont>
    <p:embeddedFont>
      <p:font typeface="Manrope Medium"/>
      <p:regular r:id="rId201316"/>
    </p:embeddedFont>
    <p:embeddedFont>
      <p:font typeface="Manrope Bold"/>
      <p:regular r:id="rId201317"/>
    </p:embeddedFont>
    <p:embeddedFont>
      <p:font typeface="Space Grotesk Light"/>
      <p:regular r:id="rId201318"/>
    </p:embeddedFont>
    <p:embeddedFont>
      <p:font typeface="Space Grotesk"/>
      <p:regular r:id="rId201319"/>
    </p:embeddedFont>
    <p:embeddedFont>
      <p:font typeface="Space Grotesk Medium"/>
      <p:regular r:id="rId201320"/>
    </p:embeddedFont>
    <p:embeddedFont>
      <p:font typeface="Space Grotesk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3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75000"/>
            </a:srgbClr>
          </a:solidFill>
          <a:ln/>
        </p:spPr>
        <p:txBody>
          <a:bodyPr/>
          <a:p/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4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7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75000"/>
            </a:srgbClr>
          </a:solidFill>
          <a:ln/>
        </p:spPr>
        <p:txBody>
          <a:bodyPr/>
          <a:p/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50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image" Target="../media/image-2-3.png"/><Relationship Id="rId12" Type="http://schemas.openxmlformats.org/officeDocument/2006/relationships/image" Target="../media/image-2-4.svg"/><Relationship Id="rId13" Type="http://schemas.openxmlformats.org/officeDocument/2006/relationships/image" Target="../media/image-2-5.png"/><Relationship Id="rId14" Type="http://schemas.openxmlformats.org/officeDocument/2006/relationships/image" Target="../media/image-2-6.svg"/><Relationship Id="rId15" Type="http://schemas.openxmlformats.org/officeDocument/2006/relationships/image" Target="../media/image-2-7.png"/><Relationship Id="rId16" Type="http://schemas.openxmlformats.org/officeDocument/2006/relationships/image" Target="../media/image-2-8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4584"/>
            <a:ext cx="6336745" cy="113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0" spc="-372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ReconX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2277765"/>
            <a:ext cx="6336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spc="-14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Enterprise Trade Reconciliation Platform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61475" y="3444875"/>
            <a:ext cx="6336745" cy="25400"/>
          </a:xfrm>
          <a:prstGeom prst="roundRect">
            <a:avLst>
              <a:gd name="adj" fmla="val 49999"/>
            </a:avLst>
          </a:prstGeom>
          <a:solidFill>
            <a:srgbClr val="D6DCE2">
              <a:alpha val="50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61475" y="3730129"/>
            <a:ext cx="6946329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65727" y="935633"/>
            <a:ext cx="4070744" cy="250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65727" y="3607495"/>
            <a:ext cx="4070744" cy="231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Members: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Tanisha Dusane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Nagachinmayeii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Sai Prasanna Gunda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Ruchi Chandhak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Anshika Chaudhary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431"/>
            <a:ext cx="804148" cy="243979"/>
          </a:xfrm>
          <a:prstGeom prst="roundRect">
            <a:avLst>
              <a:gd name="adj" fmla="val 3123"/>
            </a:avLst>
          </a:prstGeom>
          <a:solidFill>
            <a:srgbClr val="1C1D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57814" y="577552"/>
            <a:ext cx="122105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27980"/>
            <a:ext cx="10868745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spc="-158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Problem Statement &amp; Solution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545789" y="1514673"/>
            <a:ext cx="5469793" cy="4813895"/>
          </a:xfrm>
          <a:prstGeom prst="roundRect">
            <a:avLst>
              <a:gd name="adj" fmla="val 158"/>
            </a:avLst>
          </a:prstGeom>
          <a:solidFill>
            <a:srgbClr val="121424">
              <a:alpha val="7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6420" y="1651198"/>
            <a:ext cx="514853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The Problem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6420" y="2028627"/>
            <a:ext cx="5148531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Manual trade reconciliation creates significant operational risk across financial institutions.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644" y="2514848"/>
            <a:ext cx="240996" cy="2410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8496" y="2514997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Slow &amp; Inefficient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28496" y="2892425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Manual matching of trades is time-consuming and creates bottlenecks at month-end close.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644" y="3498106"/>
            <a:ext cx="240996" cy="2410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8496" y="3498255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Error-Prone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228496" y="3875683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Human entry leads to mismatches, incorrect positions, and costly financial discrepancies.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644" y="4481364"/>
            <a:ext cx="240996" cy="2410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8496" y="4481513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Poor Auditability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28496" y="4858941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Lack of traceable logs makes it difficult to meet compliance and regulatory requirements.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644" y="5464621"/>
            <a:ext cx="240996" cy="2410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8496" y="5464770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Delayed Resolution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28496" y="5842198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Issues surface late in the cycle, leaving no time for correction before settlement deadlines.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298149" y="1651198"/>
            <a:ext cx="523842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The ReconX Solution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298149" y="2028627"/>
            <a:ext cx="5848005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ReconX automates the end-to-end reconciliation pipeline with enterprise-grade reliability.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8374" y="2348458"/>
            <a:ext cx="240996" cy="2410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20225" y="2348607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Secure Authentication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820225" y="2726035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JWT-based login with Role-Based Access Control ensures only authorized users act on trades.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8374" y="3331716"/>
            <a:ext cx="240996" cy="2410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20225" y="3331865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Event-Driven Processing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6820225" y="3709293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Kafka pipelines route trade events to the reconciliation engine in real time, eliminating batch delays.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8374" y="4314974"/>
            <a:ext cx="240996" cy="24100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20225" y="4315123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Full Audit Trail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6820225" y="4692551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Every reconciliation action is logged immutably, enabling on-demand compliance reporting.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8374" y="5298232"/>
            <a:ext cx="240996" cy="24100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20225" y="5298380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Real-Time Monitoring</a:t>
            </a:r>
            <a:endParaRPr lang="en-US" sz="1550" dirty="0"/>
          </a:p>
        </p:txBody>
      </p:sp>
      <p:sp>
        <p:nvSpPr>
          <p:cNvPr id="33" name="Text 23"/>
          <p:cNvSpPr/>
          <p:nvPr/>
        </p:nvSpPr>
        <p:spPr>
          <a:xfrm>
            <a:off x="6820225" y="5675809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Prometheus and Grafana dashboards surface anomalies instantly, enabling rapid remediation.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562"/>
            <a:ext cx="996627" cy="218877"/>
          </a:xfrm>
          <a:prstGeom prst="roundRect">
            <a:avLst>
              <a:gd name="adj" fmla="val 3481"/>
            </a:avLst>
          </a:prstGeom>
          <a:solidFill>
            <a:srgbClr val="1C1D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7892" y="568722"/>
            <a:ext cx="1433377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88392"/>
            <a:ext cx="1086874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spc="-142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392" y="1385590"/>
            <a:ext cx="8644912" cy="4645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91751" y="1889086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78716" y="2193417"/>
            <a:ext cx="2069401" cy="34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React UI for user interactions and dashboards.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43443" y="2549919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43443" y="2854250"/>
            <a:ext cx="2069400" cy="517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Spring Boot gateway handling requests and routing.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91751" y="3228143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Security Layer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78716" y="3532474"/>
            <a:ext cx="2069401" cy="34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 authentication and authorization for all traffic.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43443" y="3984623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Core Services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43443" y="4288954"/>
            <a:ext cx="2069400" cy="34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Trade Service (Postgres) and Kafka event bus.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978716" y="4697628"/>
            <a:ext cx="2069401" cy="469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Processing &amp; Monitoring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978716" y="5236729"/>
            <a:ext cx="2069401" cy="517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Reconciliation engine (audit log) and Prometheus+Grafana.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6682" y="6154539"/>
            <a:ext cx="1147833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i="1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High-Level System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024"/>
            <a:ext cx="770017" cy="211832"/>
          </a:xfrm>
          <a:prstGeom prst="roundRect">
            <a:avLst>
              <a:gd name="adj" fmla="val 3597"/>
            </a:avLst>
          </a:prstGeom>
          <a:solidFill>
            <a:srgbClr val="1C1D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5114" y="584795"/>
            <a:ext cx="1212324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96032"/>
            <a:ext cx="10868745" cy="41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137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Application Workflow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69120"/>
            <a:ext cx="3622882" cy="558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973" y="2030313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Login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0973" y="2301379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User credentials submitted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369120"/>
            <a:ext cx="3622882" cy="5582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23855" y="2030313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JWT Auth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423855" y="2301379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Token issued &amp; validated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369120"/>
            <a:ext cx="3622882" cy="5582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37" y="2030313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Create Trade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046737" y="2301379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Trade data submitted via API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76612"/>
            <a:ext cx="3622882" cy="5582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973" y="323780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00973" y="350887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Trade persisted to DB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2576612"/>
            <a:ext cx="3622882" cy="5582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23855" y="323780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Kafka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423855" y="350887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Event published to topic</a:t>
            </a:r>
            <a:endParaRPr lang="en-US" sz="8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99991"/>
            <a:ext cx="3622882" cy="5582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0973" y="456118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Recon Engine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800973" y="483225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Automated matching &amp; validation</a:t>
            </a:r>
            <a:endParaRPr lang="en-US" sz="8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899991"/>
            <a:ext cx="3622882" cy="55820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423855" y="456118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Audit Log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4423855" y="483225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Immutable record written</a:t>
            </a:r>
            <a:endParaRPr lang="en-US" sz="8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239" y="3899991"/>
            <a:ext cx="3622882" cy="55820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046737" y="456118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8046737" y="483225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Status shown in React UI</a:t>
            </a:r>
            <a:endParaRPr lang="en-US" sz="8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5107484"/>
            <a:ext cx="3622882" cy="55820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00973" y="5768677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Prometheus</a:t>
            </a:r>
            <a:endParaRPr lang="en-US" sz="1350" dirty="0"/>
          </a:p>
        </p:txBody>
      </p:sp>
      <p:sp>
        <p:nvSpPr>
          <p:cNvPr id="31" name="Text 20"/>
          <p:cNvSpPr/>
          <p:nvPr/>
        </p:nvSpPr>
        <p:spPr>
          <a:xfrm>
            <a:off x="800973" y="6039743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Metrics scraped &amp; stored</a:t>
            </a:r>
            <a:endParaRPr lang="en-US" sz="8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4357" y="5107484"/>
            <a:ext cx="3622882" cy="55820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423855" y="5768677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Grafana</a:t>
            </a:r>
            <a:endParaRPr lang="en-US" sz="1350" dirty="0"/>
          </a:p>
        </p:txBody>
      </p:sp>
      <p:sp>
        <p:nvSpPr>
          <p:cNvPr id="34" name="Text 22"/>
          <p:cNvSpPr/>
          <p:nvPr/>
        </p:nvSpPr>
        <p:spPr>
          <a:xfrm>
            <a:off x="4423855" y="6039743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Visual observability layer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5055"/>
            <a:ext cx="689355" cy="287139"/>
          </a:xfrm>
          <a:prstGeom prst="roundRect">
            <a:avLst>
              <a:gd name="adj" fmla="val 2654"/>
            </a:avLst>
          </a:prstGeom>
          <a:solidFill>
            <a:srgbClr val="1C1D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4879" y="811709"/>
            <a:ext cx="10721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17798"/>
            <a:ext cx="10868745" cy="567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spc="-186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968302"/>
            <a:ext cx="10868745" cy="4134644"/>
          </a:xfrm>
          <a:prstGeom prst="roundRect">
            <a:avLst>
              <a:gd name="adj" fmla="val 18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1475" y="2481957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1475" y="2998788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1475" y="3515618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1475" y="4032448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1475" y="454927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61475" y="506610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61475" y="5582940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67924" y="1974652"/>
            <a:ext cx="2171150" cy="507305"/>
          </a:xfrm>
          <a:custGeom>
            <a:avLst/>
            <a:gdLst/>
            <a:ahLst/>
            <a:cxnLst/>
            <a:rect l="l" t="t" r="r" b="b"/>
            <a:pathLst>
              <a:path w="2171150" h="507305">
                <a:moveTo>
                  <a:pt x="6350" y="0"/>
                </a:moveTo>
                <a:lnTo>
                  <a:pt x="2171150" y="0"/>
                </a:lnTo>
                <a:lnTo>
                  <a:pt x="2171150" y="507305"/>
                </a:lnTo>
                <a:lnTo>
                  <a:pt x="0" y="507305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12142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6931" y="2094409"/>
            <a:ext cx="24027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Category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839074" y="1974652"/>
            <a:ext cx="8684797" cy="507305"/>
          </a:xfrm>
          <a:custGeom>
            <a:avLst/>
            <a:gdLst/>
            <a:ahLst/>
            <a:cxnLst/>
            <a:rect l="l" t="t" r="r" b="b"/>
            <a:pathLst>
              <a:path w="8684797" h="507305">
                <a:moveTo>
                  <a:pt x="0" y="0"/>
                </a:moveTo>
                <a:lnTo>
                  <a:pt x="8678447" y="0"/>
                </a:lnTo>
                <a:arcTo hR="6350" wR="6350" stAng="16200000" swAng="5400000"/>
                <a:lnTo>
                  <a:pt x="8684797" y="507305"/>
                </a:lnTo>
                <a:lnTo>
                  <a:pt x="0" y="507305"/>
                </a:lnTo>
                <a:lnTo>
                  <a:pt x="0" y="0"/>
                </a:lnTo>
                <a:close/>
              </a:path>
            </a:pathLst>
          </a:custGeom>
          <a:solidFill>
            <a:srgbClr val="12142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28080" y="2094409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Technologies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931" y="2604889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28080" y="2604889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Java · Spring Boot · Spring Security · Hibernate · Apache Kafka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6931" y="3121720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028080" y="3121720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React · Vite · JavaScript · HTML · CSS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6931" y="3638550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028080" y="3638550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PostgreSQL · Liquibase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6931" y="4155380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028080" y="4155380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 (JSON Web Tokens) · RBAC (Role-Based Access Control)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6931" y="4672211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028080" y="4672211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Prometheus · Grafana · Micrometer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6931" y="5189041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🐳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DevOps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028080" y="5189041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Docker · Git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6931" y="5705872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API Docs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028080" y="5705872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Swagger / OpenAPI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8022"/>
            <a:ext cx="646493" cy="287139"/>
          </a:xfrm>
          <a:prstGeom prst="roundRect">
            <a:avLst>
              <a:gd name="adj" fmla="val 2654"/>
            </a:avLst>
          </a:prstGeom>
          <a:solidFill>
            <a:srgbClr val="1C1D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4879" y="1374676"/>
            <a:ext cx="10292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DEMO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80766"/>
            <a:ext cx="10868745" cy="567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spc="-186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Project Demo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43895"/>
            <a:ext cx="2371269" cy="12721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228703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Login Page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Secure JWT-authenticated entry point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51" y="2743895"/>
            <a:ext cx="2371269" cy="17784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00251" y="4735016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Dashboard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Real-time reconciliation status overview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027" y="2743895"/>
            <a:ext cx="2371269" cy="13359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39027" y="4292501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Trade Management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Create, view, and manage trade records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802" y="2743895"/>
            <a:ext cx="2371269" cy="10942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77802" y="4050804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Grafana Dashboard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Live observability and system metrics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6714"/>
            <a:ext cx="1159541" cy="243979"/>
          </a:xfrm>
          <a:prstGeom prst="roundRect">
            <a:avLst>
              <a:gd name="adj" fmla="val 3123"/>
            </a:avLst>
          </a:prstGeom>
          <a:solidFill>
            <a:srgbClr val="1C1D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57814" y="744835"/>
            <a:ext cx="157644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95263"/>
            <a:ext cx="10868745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spc="-158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Challenges &amp; Learnings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545789" y="1681956"/>
            <a:ext cx="5469793" cy="4479330"/>
          </a:xfrm>
          <a:prstGeom prst="roundRect">
            <a:avLst>
              <a:gd name="adj" fmla="val 170"/>
            </a:avLst>
          </a:prstGeom>
          <a:solidFill>
            <a:srgbClr val="121424">
              <a:alpha val="7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6420" y="1818481"/>
            <a:ext cx="514853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🚧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Challenges Faced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6420" y="2212975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12142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73401" y="2379960"/>
            <a:ext cx="481993" cy="482005"/>
          </a:xfrm>
          <a:prstGeom prst="ellipse">
            <a:avLst/>
          </a:prstGeom>
          <a:solidFill>
            <a:srgbClr val="121424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954" y="2512417"/>
            <a:ext cx="216887" cy="2168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3401" y="2998490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Kafka Setup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73401" y="3375918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Configuring producers, consumers, and topic partitioning in a local environment.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48946" y="2212975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6F7585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515927" y="2379960"/>
            <a:ext cx="481993" cy="482005"/>
          </a:xfrm>
          <a:prstGeom prst="ellipse">
            <a:avLst/>
          </a:prstGeom>
          <a:solidFill>
            <a:srgbClr val="6F7585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8480" y="2512417"/>
            <a:ext cx="216887" cy="2168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15927" y="2998490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JWT Integration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15927" y="3375918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Implementing stateless authentication with token refresh and role validation.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06420" y="4178598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D6DCE2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73401" y="4345583"/>
            <a:ext cx="481993" cy="482005"/>
          </a:xfrm>
          <a:prstGeom prst="ellipse">
            <a:avLst/>
          </a:prstGeom>
          <a:solidFill>
            <a:srgbClr val="D6DCE2"/>
          </a:solidFill>
          <a:ln/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954" y="4478040"/>
            <a:ext cx="216887" cy="2168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3401" y="4964113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Docker Networking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73401" y="5341541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Linking multi-service containers and managing environment-specific configurations.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348946" y="4178598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3515927" y="4345583"/>
            <a:ext cx="481993" cy="48200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8480" y="4478040"/>
            <a:ext cx="216887" cy="2168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15927" y="4964113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Git Conflicts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3515927" y="5341541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Resolving merge conflicts across parallel feature branches during team collaboration.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98149" y="1818481"/>
            <a:ext cx="523842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Key Learnings</a:t>
            </a:r>
            <a:endParaRPr lang="en-US" sz="1550" dirty="0"/>
          </a:p>
        </p:txBody>
      </p:sp>
      <p:sp>
        <p:nvSpPr>
          <p:cNvPr id="28" name="Shape 22"/>
          <p:cNvSpPr/>
          <p:nvPr/>
        </p:nvSpPr>
        <p:spPr>
          <a:xfrm>
            <a:off x="6298149" y="2212975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121424"/>
            </a:solidFill>
            <a:prstDash val="solid"/>
          </a:ln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6465130" y="2379960"/>
            <a:ext cx="481993" cy="482005"/>
          </a:xfrm>
          <a:prstGeom prst="ellipse">
            <a:avLst/>
          </a:prstGeom>
          <a:solidFill>
            <a:srgbClr val="121424"/>
          </a:solidFill>
          <a:ln/>
        </p:spPr>
        <p:txBody>
          <a:bodyPr/>
          <a:p/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7683" y="2512417"/>
            <a:ext cx="216887" cy="2168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65130" y="2998490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Spring Boot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6465130" y="3375918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Built production-grade REST APIs with layered architecture and dependency injection.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985621" y="2212975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6F7585"/>
            </a:solidFill>
            <a:prstDash val="solid"/>
          </a:ln>
        </p:spPr>
        <p:txBody>
          <a:bodyPr/>
          <a:p/>
        </p:txBody>
      </p:sp>
      <p:sp>
        <p:nvSpPr>
          <p:cNvPr id="34" name="Shape 27"/>
          <p:cNvSpPr/>
          <p:nvPr/>
        </p:nvSpPr>
        <p:spPr>
          <a:xfrm>
            <a:off x="9152601" y="2379960"/>
            <a:ext cx="481993" cy="482005"/>
          </a:xfrm>
          <a:prstGeom prst="ellipse">
            <a:avLst/>
          </a:prstGeom>
          <a:solidFill>
            <a:srgbClr val="6F7585"/>
          </a:solidFill>
          <a:ln/>
        </p:spPr>
        <p:txBody>
          <a:bodyPr/>
          <a:p/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85154" y="2512417"/>
            <a:ext cx="216887" cy="2168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52601" y="2998490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Event-Driven Design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9152601" y="3375918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Applied asynchronous, decoupled communication patterns using Kafka for scalability.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298149" y="4178598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D6DCE2"/>
            </a:solidFill>
            <a:prstDash val="solid"/>
          </a:ln>
        </p:spPr>
        <p:txBody>
          <a:bodyPr/>
          <a:p/>
        </p:txBody>
      </p:sp>
      <p:sp>
        <p:nvSpPr>
          <p:cNvPr id="39" name="Shape 31"/>
          <p:cNvSpPr/>
          <p:nvPr/>
        </p:nvSpPr>
        <p:spPr>
          <a:xfrm>
            <a:off x="6465130" y="4345583"/>
            <a:ext cx="481993" cy="482005"/>
          </a:xfrm>
          <a:prstGeom prst="ellipse">
            <a:avLst/>
          </a:prstGeom>
          <a:solidFill>
            <a:srgbClr val="D6DCE2"/>
          </a:solidFill>
          <a:ln/>
        </p:spPr>
        <p:txBody>
          <a:bodyPr/>
          <a:p/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97683" y="4478040"/>
            <a:ext cx="216887" cy="21689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465130" y="4964113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React Frontend</a:t>
            </a:r>
            <a:endParaRPr lang="en-US" sz="1550" dirty="0"/>
          </a:p>
        </p:txBody>
      </p:sp>
      <p:sp>
        <p:nvSpPr>
          <p:cNvPr id="42" name="Text 33"/>
          <p:cNvSpPr/>
          <p:nvPr/>
        </p:nvSpPr>
        <p:spPr>
          <a:xfrm>
            <a:off x="6465130" y="5341541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Developed dynamic, component-based UIs consuming secured backend APIs.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8985621" y="4178598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35"/>
          <p:cNvSpPr/>
          <p:nvPr/>
        </p:nvSpPr>
        <p:spPr>
          <a:xfrm>
            <a:off x="9152601" y="4345583"/>
            <a:ext cx="481993" cy="48200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85154" y="4478040"/>
            <a:ext cx="216887" cy="21689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152601" y="4964113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Observability</a:t>
            </a:r>
            <a:endParaRPr lang="en-US" sz="1550" dirty="0"/>
          </a:p>
        </p:txBody>
      </p:sp>
      <p:sp>
        <p:nvSpPr>
          <p:cNvPr id="47" name="Text 37"/>
          <p:cNvSpPr/>
          <p:nvPr/>
        </p:nvSpPr>
        <p:spPr>
          <a:xfrm>
            <a:off x="9152601" y="5341541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Instrumented services with Micrometer and visualised performance in Grafana.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3066"/>
            <a:ext cx="928664" cy="229691"/>
          </a:xfrm>
          <a:prstGeom prst="roundRect">
            <a:avLst>
              <a:gd name="adj" fmla="val 3317"/>
            </a:avLst>
          </a:prstGeom>
          <a:solidFill>
            <a:srgbClr val="1C1D3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52159" y="608409"/>
            <a:ext cx="13568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41077"/>
            <a:ext cx="1086874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spc="-14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Conclusion &amp; Future Scope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552635" y="1476077"/>
            <a:ext cx="5467610" cy="4818856"/>
          </a:xfrm>
          <a:prstGeom prst="roundRect">
            <a:avLst>
              <a:gd name="adj" fmla="val 158"/>
            </a:avLst>
          </a:prstGeom>
          <a:solidFill>
            <a:srgbClr val="121424">
              <a:alpha val="7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3840" y="1597025"/>
            <a:ext cx="5165199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Key Achievements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3840" y="1966218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3840" y="2196505"/>
            <a:ext cx="5165199" cy="19050"/>
          </a:xfrm>
          <a:prstGeom prst="rect">
            <a:avLst/>
          </a:prstGeom>
          <a:solidFill>
            <a:srgbClr val="12142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3840" y="2310209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Automated Reconciliation Pipeline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03840" y="2657971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End-to-end trade matching with zero manual intervention from submission to audit log.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3840" y="3044627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3840" y="3274913"/>
            <a:ext cx="5165199" cy="19050"/>
          </a:xfrm>
          <a:prstGeom prst="rect">
            <a:avLst/>
          </a:prstGeom>
          <a:solidFill>
            <a:srgbClr val="6F758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3840" y="3388618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Secure, Role-Based Access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3840" y="3736380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 + RBAC ensuring only authorised users perform sensitive reconciliation actions.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3840" y="4123035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3840" y="4353322"/>
            <a:ext cx="5165199" cy="19050"/>
          </a:xfrm>
          <a:prstGeom prst="rect">
            <a:avLst/>
          </a:prstGeom>
          <a:solidFill>
            <a:srgbClr val="D6DCE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3840" y="4467027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Real-Time Event Processing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3840" y="4814788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Kafka-driven architecture decouples services and processes trades at enterprise scale.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3840" y="5201444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3840" y="5431730"/>
            <a:ext cx="5165199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3840" y="5545435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Full Observability Stack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03840" y="5893197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Prometheus metrics and Grafana dashboards provide production-ready visibility.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86640" y="1597025"/>
            <a:ext cx="524993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Future Enhancements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86640" y="1966218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86640" y="2196505"/>
            <a:ext cx="5249930" cy="19050"/>
          </a:xfrm>
          <a:prstGeom prst="rect">
            <a:avLst/>
          </a:prstGeom>
          <a:solidFill>
            <a:srgbClr val="12142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86640" y="2310209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AI-Based Anomaly Detection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86640" y="2657971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Integrate ML models to automatically flag unusual trade patterns before settlement.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86640" y="3044627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86640" y="3274913"/>
            <a:ext cx="5249930" cy="19050"/>
          </a:xfrm>
          <a:prstGeom prst="rect">
            <a:avLst/>
          </a:prstGeom>
          <a:solidFill>
            <a:srgbClr val="6F758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86640" y="3388618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286640" y="3736380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Deploy on AWS or Azure with managed services for database, messaging, and monitoring.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86640" y="4123035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86640" y="4353322"/>
            <a:ext cx="5249930" cy="19050"/>
          </a:xfrm>
          <a:prstGeom prst="rect">
            <a:avLst/>
          </a:prstGeom>
          <a:solidFill>
            <a:srgbClr val="D6DCE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86640" y="4467027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Kubernetes Orchestration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286640" y="4814788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Containerise all services under Kubernetes for auto-scaling and high availability.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86640" y="5201444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04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86640" y="5431730"/>
            <a:ext cx="5249930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86640" y="5545435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Advanced Analytics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286640" y="5893197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Embed business intelligence dashboards for trade volume trends and SLA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1700"/>
            <a:ext cx="6336745" cy="113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0" spc="-372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Thank You!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494881"/>
            <a:ext cx="633674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spc="-14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Questions?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61475" y="4208363"/>
            <a:ext cx="6336745" cy="25400"/>
          </a:xfrm>
          <a:prstGeom prst="roundRect">
            <a:avLst>
              <a:gd name="adj" fmla="val 49999"/>
            </a:avLst>
          </a:prstGeom>
          <a:solidFill>
            <a:srgbClr val="D6DCE2">
              <a:alpha val="50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61475" y="4493617"/>
            <a:ext cx="6946329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ReconX – Enterprise Trade Reconciliation Platform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65727" y="2152749"/>
            <a:ext cx="4680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2026-08-04T02:52:38Z</dcterms:created>
  <dcterms:modified xsi:type="dcterms:W3CDTF">2026-08-04T02:52:38Z</dcterms:modified>
</cp:coreProperties>
</file>